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7625b1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7625b1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7625b13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e7625b1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e7625b13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e7625b13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2e33c7a4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2e33c7a4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e7626af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e7626af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2e33c7a4e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2e33c7a4e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2e33c7a4e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2e33c7a4e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e7625b13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e7625b13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Anwesenheits</a:t>
            </a:r>
            <a:r>
              <a:rPr lang="de"/>
              <a:t>überwachung</a:t>
            </a:r>
            <a:r>
              <a:rPr lang="de"/>
              <a:t> am Arbeitsplatz (AwA)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IOT</a:t>
            </a:r>
            <a:br>
              <a:rPr lang="de"/>
            </a:br>
            <a:r>
              <a:rPr lang="de"/>
              <a:t>Matthias Raba, Nico Theberath, Maxim Bellm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Motivation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Tech-Stack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Architektur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Machine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Kleine Demo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Motivation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700">
                <a:solidFill>
                  <a:schemeClr val="dk1"/>
                </a:solidFill>
              </a:rPr>
              <a:t>Anwesenheitserkennung an einem Arbeitsplatz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100">
                <a:solidFill>
                  <a:schemeClr val="dk1"/>
                </a:solidFill>
              </a:rPr>
              <a:t>Das System erkennt automatisch, ob </a:t>
            </a:r>
            <a:r>
              <a:rPr b="1" lang="de" sz="1100">
                <a:solidFill>
                  <a:schemeClr val="dk1"/>
                </a:solidFill>
              </a:rPr>
              <a:t>ein</a:t>
            </a:r>
            <a:r>
              <a:rPr lang="de" sz="1100">
                <a:solidFill>
                  <a:schemeClr val="dk1"/>
                </a:solidFill>
              </a:rPr>
              <a:t> Arbeitsplatz aktuell </a:t>
            </a:r>
            <a:r>
              <a:rPr b="1" lang="de" sz="1100">
                <a:solidFill>
                  <a:schemeClr val="dk1"/>
                </a:solidFill>
              </a:rPr>
              <a:t>belegt</a:t>
            </a:r>
            <a:r>
              <a:rPr lang="de" sz="1100">
                <a:solidFill>
                  <a:schemeClr val="dk1"/>
                </a:solidFill>
              </a:rPr>
              <a:t> ist und welcher Aktivitätszustand vorliegt, basierend auf Sensorwerten von Ultraschall, Bewegungsmelder und Mikrofon-Schwellwert.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chemeClr val="dk1"/>
                </a:solidFill>
              </a:rPr>
              <a:t>Optional - nicht-</a:t>
            </a:r>
            <a:r>
              <a:rPr b="1" lang="de" sz="1700">
                <a:solidFill>
                  <a:schemeClr val="dk1"/>
                </a:solidFill>
              </a:rPr>
              <a:t>invasive Überwachung</a:t>
            </a:r>
            <a:r>
              <a:rPr b="1" lang="de" sz="17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Kaufhaus - verteilte AwA Boxen um allgemeinen Auslastung eines Gebäudes zu erkennen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Bushaltestelle - smarte Erkennung, ob ein Bus halten muss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Toilette -  smarte Lichtsteuerung, welche nicht nur auf Bewegung basiert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Technologie Stack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Hardware:</a:t>
            </a:r>
            <a:br>
              <a:rPr lang="de"/>
            </a:br>
            <a:r>
              <a:rPr lang="de"/>
              <a:t>	Raspberry Pi 4 </a:t>
            </a:r>
            <a:br>
              <a:rPr lang="de"/>
            </a:br>
            <a:r>
              <a:rPr lang="de"/>
              <a:t>	Ultraschall</a:t>
            </a:r>
            <a:br>
              <a:rPr lang="de"/>
            </a:br>
            <a:r>
              <a:rPr lang="de"/>
              <a:t>	Infrarot Bewegungssensor</a:t>
            </a:r>
            <a:br>
              <a:rPr lang="de"/>
            </a:br>
            <a:r>
              <a:rPr lang="de"/>
              <a:t>	Lärmerkennung (Mikrofon)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Software:</a:t>
            </a:r>
            <a:br>
              <a:rPr lang="de"/>
            </a:br>
            <a:r>
              <a:rPr lang="de"/>
              <a:t>	Schlange 3</a:t>
            </a:r>
            <a:br>
              <a:rPr lang="de"/>
            </a:br>
            <a:r>
              <a:rPr lang="de"/>
              <a:t>	SciKit-Learn</a:t>
            </a:r>
            <a:br>
              <a:rPr lang="de"/>
            </a:br>
            <a:r>
              <a:rPr lang="de"/>
              <a:t>	MQTT</a:t>
            </a:r>
            <a:br>
              <a:rPr lang="de"/>
            </a:br>
            <a:r>
              <a:rPr lang="de"/>
              <a:t>	Node-Red</a:t>
            </a:r>
            <a:endParaRPr/>
          </a:p>
        </p:txBody>
      </p:sp>
      <p:pic>
        <p:nvPicPr>
          <p:cNvPr id="74" name="Google Shape;74;p16" title="Objek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1775" y="445025"/>
            <a:ext cx="3090877" cy="40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Technologie Stack / Software - Node Red</a:t>
            </a:r>
            <a:endParaRPr/>
          </a:p>
        </p:txBody>
      </p:sp>
      <p:pic>
        <p:nvPicPr>
          <p:cNvPr id="80" name="Google Shape;80;p17" title="WhatsApp Image 2025-12-21 at 10.04.5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1325" y="1395104"/>
            <a:ext cx="4534299" cy="345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000" y="1339438"/>
            <a:ext cx="3826525" cy="3562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endParaRPr/>
          </a:p>
        </p:txBody>
      </p:sp>
      <p:pic>
        <p:nvPicPr>
          <p:cNvPr id="87" name="Google Shape;87;p18" title="iot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57574"/>
            <a:ext cx="8152775" cy="22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Machine Learning</a:t>
            </a: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516675" y="1087300"/>
            <a:ext cx="8228100" cy="3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de" sz="1800">
                <a:solidFill>
                  <a:schemeClr val="dk2"/>
                </a:solidFill>
              </a:rPr>
              <a:t>Python mit SciKit-Learn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de" sz="1800">
                <a:solidFill>
                  <a:schemeClr val="dk2"/>
                </a:solidFill>
              </a:rPr>
              <a:t>Klassifikationsproblem: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de" sz="1800">
                <a:solidFill>
                  <a:schemeClr val="dk2"/>
                </a:solidFill>
              </a:rPr>
              <a:t>Not present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de" sz="1800">
                <a:solidFill>
                  <a:schemeClr val="dk2"/>
                </a:solidFill>
              </a:rPr>
              <a:t>Present, not working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de" sz="1800">
                <a:solidFill>
                  <a:schemeClr val="dk2"/>
                </a:solidFill>
              </a:rPr>
              <a:t>Present, working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⇒ Random Forest Classifier mit: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de" sz="1800">
                <a:solidFill>
                  <a:schemeClr val="dk2"/>
                </a:solidFill>
              </a:rPr>
              <a:t>100 Estimators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de" sz="1800">
                <a:solidFill>
                  <a:schemeClr val="dk2"/>
                </a:solidFill>
              </a:rPr>
              <a:t>max. Tiefe von 10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de" sz="1800">
                <a:solidFill>
                  <a:schemeClr val="dk2"/>
                </a:solidFill>
              </a:rPr>
              <a:t>3 Klassen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Ergebnis: ~96.28% Accuracy bei 25000 Datensätzen (ca. 4h Rohdaten)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4" name="Google Shape;94;p19" title="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7747" y="339275"/>
            <a:ext cx="4858175" cy="38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Machine Learning - Data Shaping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667374" cy="9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3850" y="1862875"/>
            <a:ext cx="3858450" cy="15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138750"/>
            <a:ext cx="3667353" cy="9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/>
          <p:nvPr/>
        </p:nvSpPr>
        <p:spPr>
          <a:xfrm>
            <a:off x="3979050" y="1152475"/>
            <a:ext cx="994800" cy="2935200"/>
          </a:xfrm>
          <a:prstGeom prst="rightBrace">
            <a:avLst>
              <a:gd fmla="val 50000" name="adj1"/>
              <a:gd fmla="val 50324" name="adj2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/>
          <p:nvPr/>
        </p:nvSpPr>
        <p:spPr>
          <a:xfrm>
            <a:off x="1249250" y="2516763"/>
            <a:ext cx="216000" cy="219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/>
          <p:nvPr/>
        </p:nvSpPr>
        <p:spPr>
          <a:xfrm>
            <a:off x="1748650" y="2516763"/>
            <a:ext cx="216000" cy="219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/>
          <p:nvPr/>
        </p:nvSpPr>
        <p:spPr>
          <a:xfrm>
            <a:off x="2248050" y="2510500"/>
            <a:ext cx="216000" cy="219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3547225" y="2333663"/>
            <a:ext cx="108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700">
                <a:solidFill>
                  <a:schemeClr val="dk2"/>
                </a:solidFill>
              </a:rPr>
              <a:t>x 30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Demo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5898500" y="1984400"/>
            <a:ext cx="1981800" cy="157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de"/>
              <a:t>seems like</a:t>
            </a:r>
            <a:r>
              <a:rPr lang="de"/>
              <a:t> Working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625" y="1699500"/>
            <a:ext cx="2322350" cy="23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 title="Objek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4350" y="1985800"/>
            <a:ext cx="1162101" cy="15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/>
          <p:nvPr/>
        </p:nvSpPr>
        <p:spPr>
          <a:xfrm>
            <a:off x="4899688" y="2445900"/>
            <a:ext cx="959400" cy="572700"/>
          </a:xfrm>
          <a:prstGeom prst="rightArrow">
            <a:avLst>
              <a:gd fmla="val 42317" name="adj1"/>
              <a:gd fmla="val 78261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